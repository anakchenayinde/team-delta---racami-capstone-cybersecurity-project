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64" r:id="rId14"/>
    <p:sldId id="260" r:id="rId10"/>
    <p:sldId id="261" r:id="rId11"/>
    <p:sldId id="259" r:id="rId9"/>
    <p:sldId id="262" r:id="rId12"/>
    <p:sldId id="263" r:id="rId13"/>
    <p:sldId id="265" r:id="rId15"/>
    <p:sldId id="266" r:id="rId16"/>
    <p:sldId id="267" r:id="rId17"/>
    <p:sldId id="268" r:id="rId18"/>
    <p:sldId id="269" r:id="rId19"/>
  </p:sldIdLst>
  <p:sldSz cy="5143500" cx="9144000"/>
  <p:notesSz cx="5143500" cy="9144000"/>
  <p:embeddedFontLst>
    <p:embeddedFont>
      <p:font typeface="Arial Black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290F42-D52B-44BB-82AB-EEC54994FEEF}">
  <a:tblStyle styleId="{16290F42-D52B-44BB-82AB-EEC54994FEE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ArialBlac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7ce99b7c8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c7ce99b7c8_2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c7ce99b7c8_2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7ce99b7c8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c7ce99b7c8_4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c7ce99b7c8_4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TEAM DELTA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31520" y="164592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Racami, LLC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31520" y="24688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Infostealer Compromise &amp; Ransomware Incident Analysis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731520" y="320040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731520" y="338328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2026-CAX-500 Cybersecurity Capstone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February 12,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71C1C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Agenda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711376" y="1070500"/>
            <a:ext cx="469200" cy="297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78150" lIns="78150" spcFirstLastPara="1" rIns="78150" wrap="square" tIns="78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711376" y="1070500"/>
            <a:ext cx="469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75" lIns="78150" spcFirstLastPara="1" rIns="78150" wrap="square" tIns="39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7"/>
              <a:buFont typeface="Arial"/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336630" y="1070500"/>
            <a:ext cx="5470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75" lIns="78150" spcFirstLastPara="1" rIns="78150" wrap="square" tIns="39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68"/>
              <a:buFont typeface="Arial"/>
              <a:buNone/>
            </a:pPr>
            <a:r>
              <a:rPr b="0" i="0" lang="en-US" sz="1367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Company Profile &amp; Incident Context</a:t>
            </a:r>
            <a:endParaRPr b="0" i="0" sz="13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711376" y="1461283"/>
            <a:ext cx="469200" cy="297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78150" lIns="78150" spcFirstLastPara="1" rIns="78150" wrap="square" tIns="78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711376" y="1461283"/>
            <a:ext cx="469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75" lIns="78150" spcFirstLastPara="1" rIns="78150" wrap="square" tIns="39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7"/>
              <a:buFont typeface="Arial"/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336630" y="1461283"/>
            <a:ext cx="5470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75" lIns="78150" spcFirstLastPara="1" rIns="78150" wrap="square" tIns="39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68"/>
              <a:buFont typeface="Arial"/>
              <a:buNone/>
            </a:pPr>
            <a:r>
              <a:rPr b="0" i="0" lang="en-US" sz="1367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Incident Timeline</a:t>
            </a:r>
            <a:endParaRPr b="0" i="0" sz="13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711376" y="1852066"/>
            <a:ext cx="469200" cy="297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78150" lIns="78150" spcFirstLastPara="1" rIns="78150" wrap="square" tIns="78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711376" y="1852066"/>
            <a:ext cx="469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75" lIns="78150" spcFirstLastPara="1" rIns="78150" wrap="square" tIns="39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7"/>
              <a:buFont typeface="Arial"/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336630" y="1852066"/>
            <a:ext cx="5470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75" lIns="78150" spcFirstLastPara="1" rIns="78150" wrap="square" tIns="39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68"/>
              <a:buFont typeface="Arial"/>
              <a:buNone/>
            </a:pPr>
            <a:r>
              <a:rPr b="0" i="0" lang="en-US" sz="1367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Compromised Assets</a:t>
            </a:r>
            <a:endParaRPr b="0" i="0" sz="13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711376" y="2583963"/>
            <a:ext cx="469200" cy="297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78150" lIns="78150" spcFirstLastPara="1" rIns="78150" wrap="square" tIns="78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711376" y="2583963"/>
            <a:ext cx="469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75" lIns="78150" spcFirstLastPara="1" rIns="78150" wrap="square" tIns="39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7"/>
              <a:buFont typeface="Arial"/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196">
                <a:solidFill>
                  <a:srgbClr val="FFFFFF"/>
                </a:solidFill>
              </a:rPr>
              <a:t>5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336630" y="2583963"/>
            <a:ext cx="5470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75" lIns="78150" spcFirstLastPara="1" rIns="78150" wrap="square" tIns="39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68"/>
              <a:buFont typeface="Arial"/>
              <a:buNone/>
            </a:pPr>
            <a:r>
              <a:rPr b="0" i="0" lang="en-US" sz="1367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MITRE ATT&amp;CK Attack Path</a:t>
            </a:r>
            <a:endParaRPr b="0" i="0" sz="13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11376" y="3297125"/>
            <a:ext cx="469200" cy="297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78150" lIns="78150" spcFirstLastPara="1" rIns="78150" wrap="square" tIns="78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711376" y="3297125"/>
            <a:ext cx="469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75" lIns="78150" spcFirstLastPara="1" rIns="78150" wrap="square" tIns="39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7"/>
              <a:buFont typeface="Arial"/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196">
                <a:solidFill>
                  <a:srgbClr val="FFFFFF"/>
                </a:solidFill>
              </a:rPr>
              <a:t>7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336630" y="3297125"/>
            <a:ext cx="5470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75" lIns="78150" spcFirstLastPara="1" rIns="78150" wrap="square" tIns="39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68"/>
              <a:buFont typeface="Arial"/>
              <a:buNone/>
            </a:pPr>
            <a:r>
              <a:rPr lang="en-US" sz="1367">
                <a:solidFill>
                  <a:srgbClr val="1B2A4A"/>
                </a:solidFill>
              </a:rPr>
              <a:t>Cavalier Stealer Log</a:t>
            </a:r>
            <a:endParaRPr b="0" i="0" sz="13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11376" y="3679504"/>
            <a:ext cx="469200" cy="297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78150" lIns="78150" spcFirstLastPara="1" rIns="78150" wrap="square" tIns="78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711376" y="3679504"/>
            <a:ext cx="469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75" lIns="78150" spcFirstLastPara="1" rIns="78150" wrap="square" tIns="39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7"/>
              <a:buFont typeface="Arial"/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196">
                <a:solidFill>
                  <a:srgbClr val="FFFFFF"/>
                </a:solidFill>
              </a:rPr>
              <a:t>8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336630" y="3679504"/>
            <a:ext cx="5470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75" lIns="78150" spcFirstLastPara="1" rIns="78150" wrap="square" tIns="39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68"/>
              <a:buFont typeface="Arial"/>
              <a:buNone/>
            </a:pPr>
            <a:r>
              <a:rPr b="0" i="0" lang="en-US" sz="1367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Root Cause Analysis</a:t>
            </a:r>
            <a:endParaRPr b="0" i="0" sz="13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711376" y="4070287"/>
            <a:ext cx="469200" cy="297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78150" lIns="78150" spcFirstLastPara="1" rIns="78150" wrap="square" tIns="78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711376" y="4070287"/>
            <a:ext cx="469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75" lIns="78150" spcFirstLastPara="1" rIns="78150" wrap="square" tIns="39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7"/>
              <a:buFont typeface="Arial"/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196">
                <a:solidFill>
                  <a:srgbClr val="FFFFFF"/>
                </a:solidFill>
              </a:rPr>
              <a:t>9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336630" y="4070287"/>
            <a:ext cx="5470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75" lIns="78150" spcFirstLastPara="1" rIns="78150" wrap="square" tIns="39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68"/>
              <a:buFont typeface="Arial"/>
              <a:buNone/>
            </a:pPr>
            <a:r>
              <a:rPr b="0" i="0" lang="en-US" sz="1367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Risk &amp; Business Impact</a:t>
            </a:r>
            <a:endParaRPr b="0" i="0" sz="13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711376" y="4461070"/>
            <a:ext cx="469200" cy="297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78150" lIns="78150" spcFirstLastPara="1" rIns="78150" wrap="square" tIns="78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711376" y="4461070"/>
            <a:ext cx="469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75" lIns="78150" spcFirstLastPara="1" rIns="78150" wrap="square" tIns="39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7"/>
              <a:buFont typeface="Arial"/>
              <a:buNone/>
            </a:pPr>
            <a:r>
              <a:rPr b="1" lang="en-US" sz="1196">
                <a:solidFill>
                  <a:srgbClr val="FFFFFF"/>
                </a:solidFill>
              </a:rPr>
              <a:t>10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336630" y="4461070"/>
            <a:ext cx="5470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75" lIns="78150" spcFirstLastPara="1" rIns="78150" wrap="square" tIns="39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68"/>
              <a:buFont typeface="Arial"/>
              <a:buNone/>
            </a:pPr>
            <a:r>
              <a:rPr b="0" i="0" lang="en-US" sz="1367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Recommended Actions</a:t>
            </a:r>
            <a:endParaRPr b="0" i="0" sz="13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57200" y="4775013"/>
            <a:ext cx="5083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350" lIns="84725" spcFirstLastPara="1" rIns="84725" wrap="square" tIns="42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741"/>
              <a:buFont typeface="Arial"/>
              <a:buNone/>
            </a:pPr>
            <a:r>
              <a:rPr b="0" i="0" lang="en-US" sz="741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TEAM DELTA  |  CONFIDENTIAL  |  2026-CAX-500</a:t>
            </a:r>
            <a:endParaRPr b="0" i="0" sz="7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711376" y="2208716"/>
            <a:ext cx="469200" cy="297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78150" lIns="78150" spcFirstLastPara="1" rIns="78150" wrap="square" tIns="78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711376" y="2208716"/>
            <a:ext cx="469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75" lIns="78150" spcFirstLastPara="1" rIns="78150" wrap="square" tIns="39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7"/>
              <a:buFont typeface="Arial"/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196">
                <a:solidFill>
                  <a:srgbClr val="FFFFFF"/>
                </a:solidFill>
              </a:rPr>
              <a:t>4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336630" y="2208716"/>
            <a:ext cx="5470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75" lIns="78150" spcFirstLastPara="1" rIns="78150" wrap="square" tIns="39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68"/>
              <a:buFont typeface="Arial"/>
              <a:buNone/>
            </a:pPr>
            <a:r>
              <a:rPr lang="en-US" sz="1367">
                <a:solidFill>
                  <a:srgbClr val="1B2A4A"/>
                </a:solidFill>
              </a:rPr>
              <a:t>Attack Surface</a:t>
            </a:r>
            <a:endParaRPr b="0" i="0" sz="13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711376" y="2939984"/>
            <a:ext cx="469200" cy="297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78150" lIns="78150" spcFirstLastPara="1" rIns="78150" wrap="square" tIns="78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711376" y="2939984"/>
            <a:ext cx="469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75" lIns="78150" spcFirstLastPara="1" rIns="78150" wrap="square" tIns="39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7"/>
              <a:buFont typeface="Arial"/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196">
                <a:solidFill>
                  <a:srgbClr val="FFFFFF"/>
                </a:solidFill>
              </a:rPr>
              <a:t>6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336630" y="2939984"/>
            <a:ext cx="5470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75" lIns="78150" spcFirstLastPara="1" rIns="78150" wrap="square" tIns="39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68"/>
              <a:buFont typeface="Arial"/>
              <a:buNone/>
            </a:pPr>
            <a:r>
              <a:rPr b="0" i="0" lang="en-US" sz="1367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HellCat Ransomware Exploitation</a:t>
            </a:r>
            <a:endParaRPr b="0" i="0" sz="13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Racami, LLC — Company Profile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731520" y="1188720"/>
            <a:ext cx="20116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731520" y="11887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Founded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2926080" y="1188720"/>
            <a:ext cx="5669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2008  |  Norcross, Georgia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731520" y="1691640"/>
            <a:ext cx="20116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731520" y="16916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Industry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2926080" y="1691640"/>
            <a:ext cx="5669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Customer Communications Management (CCM)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731520" y="2194560"/>
            <a:ext cx="20116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731520" y="21945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Platform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2926080" y="2194560"/>
            <a:ext cx="5669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Alchem-e™ (Pay, Proof, Doc Creator, Batch, Edge)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731520" y="2697480"/>
            <a:ext cx="20116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731520" y="26974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2926080" y="2697480"/>
            <a:ext cx="5669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Financial services, healthcare, insurance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731520" y="3200400"/>
            <a:ext cx="20116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731520" y="320040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2926080" y="3200400"/>
            <a:ext cx="5669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Private LLC  |  ~50-200 employees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31520" y="3931920"/>
            <a:ext cx="7772400" cy="731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914400" y="3977640"/>
            <a:ext cx="7406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Why it matters: Racami serves highly regulated sectors. A breach exposes customer PII/PHI across financial, healthcare, and insurance verticals — triggering GDPR, CCPA, and HIPAA obligations.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TEAM DELTA  |  CONFIDENTIAL  |  2026-CAX-500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Incident Timeline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731520" y="2560320"/>
            <a:ext cx="777240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868680" y="2423160"/>
            <a:ext cx="274320" cy="274320"/>
          </a:xfrm>
          <a:prstGeom prst="ellipse">
            <a:avLst/>
          </a:prstGeom>
          <a:solidFill>
            <a:srgbClr val="B7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457200" y="17373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71C1C"/>
                </a:solidFill>
                <a:latin typeface="Arial"/>
                <a:ea typeface="Arial"/>
                <a:cs typeface="Arial"/>
                <a:sym typeface="Arial"/>
              </a:rPr>
              <a:t>Nov 5, 2022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57200" y="29260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RedLine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Execution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2880360" y="2423160"/>
            <a:ext cx="274320" cy="27432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2468880" y="17373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65100"/>
                </a:solidFill>
                <a:latin typeface="Arial"/>
                <a:ea typeface="Arial"/>
                <a:cs typeface="Arial"/>
                <a:sym typeface="Arial"/>
              </a:rPr>
              <a:t>Nov 12, 2022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2468880" y="29260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Log Detected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14× on Dark Web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892040" y="2423160"/>
            <a:ext cx="274320" cy="274320"/>
          </a:xfrm>
          <a:prstGeom prst="ellipse">
            <a:avLst/>
          </a:prstGeom>
          <a:solidFill>
            <a:srgbClr val="7890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480560" y="17373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2022–2025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480560" y="29260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29 Months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No Remediation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995160" y="2423160"/>
            <a:ext cx="274320" cy="274320"/>
          </a:xfrm>
          <a:prstGeom prst="ellipse">
            <a:avLst/>
          </a:prstGeom>
          <a:solidFill>
            <a:srgbClr val="4A14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6583680" y="17373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148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A148C"/>
                </a:solidFill>
                <a:latin typeface="Arial"/>
                <a:ea typeface="Arial"/>
                <a:cs typeface="Arial"/>
                <a:sym typeface="Arial"/>
              </a:rPr>
              <a:t>Apr 5, 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583680" y="29260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HellCat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Ransomware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731520" y="3840480"/>
            <a:ext cx="7772400" cy="7315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914400" y="3886200"/>
            <a:ext cx="7406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B71C1C"/>
                </a:solidFill>
                <a:latin typeface="Arial"/>
                <a:ea typeface="Arial"/>
                <a:cs typeface="Arial"/>
                <a:sym typeface="Arial"/>
              </a:rPr>
              <a:t>29 months of unrotated credentials. The same Jira password stolen in 2022 was used by HellCat to breach Racami in 2025.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TEAM DELTA  |  CONFIDENTIAL  |  2026-CAX-500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What Was Compromised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731520" y="1097280"/>
            <a:ext cx="1371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6000"/>
              <a:buFont typeface="Arial Black"/>
              <a:buNone/>
            </a:pPr>
            <a:r>
              <a:rPr b="1" i="0" lang="en-US" sz="6000" u="none" cap="none" strike="noStrike">
                <a:solidFill>
                  <a:srgbClr val="B71C1C"/>
                </a:solidFill>
                <a:latin typeface="Arial Black"/>
                <a:ea typeface="Arial Black"/>
                <a:cs typeface="Arial Black"/>
                <a:sym typeface="Arial Black"/>
              </a:rPr>
              <a:t>13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2103120" y="118872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credential pairs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across 10 systems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6" name="Google Shape;116;p7"/>
          <p:cNvGraphicFramePr/>
          <p:nvPr/>
        </p:nvGraphicFramePr>
        <p:xfrm>
          <a:off x="731520" y="2194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{16290F42-D52B-44BB-82AB-EEC54994FEEF}</a:tableStyleId>
              </a:tblPr>
              <a:tblGrid>
                <a:gridCol w="1645925"/>
                <a:gridCol w="4114800"/>
                <a:gridCol w="128015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Detail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Severity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Production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cisprod01 (superadmin)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CRITICAL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1C1C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Jira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work.racami.com (HellCat vector)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REALIZED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148C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 Code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git.racami.com (Gitea repo)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CRITICAL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1C1C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Staging/QA/UAT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 environments with superadmin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510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rn***@racami.com (SSO pivot)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510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Workstation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 tools, AnyDesk, BI reporting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5100"/>
                    </a:solidFill>
                  </a:tcPr>
                </a:tc>
              </a:tr>
            </a:tbl>
          </a:graphicData>
        </a:graphic>
      </p:graphicFrame>
      <p:sp>
        <p:nvSpPr>
          <p:cNvPr id="117" name="Google Shape;117;p7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TEAM DELTA  |  CONFIDENTIAL  |  2026-CAX-500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ATTACK SURFACE: RACAMI INFRASTRUCTURE MAP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13 compromised credentials span the full SDLC — from code repository to production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457200" y="1097280"/>
            <a:ext cx="260604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457200" y="1097280"/>
            <a:ext cx="54864" cy="12344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594360" y="1170432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PRODUCTION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94360" y="1371600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cisprod01.racami.com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94360" y="1600200"/>
            <a:ext cx="731520" cy="182880"/>
          </a:xfrm>
          <a:prstGeom prst="rect">
            <a:avLst/>
          </a:prstGeom>
          <a:solidFill>
            <a:srgbClr val="FED7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594360" y="160020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rPr>
              <a:t>CRITICAL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94360" y="1847088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Live customer 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1 superadmin credential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3264408" y="1097280"/>
            <a:ext cx="260604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3264408" y="1097280"/>
            <a:ext cx="54864" cy="123444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3401568" y="1170432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STAGING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3401568" y="1371600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cisstg01.racami.com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3401568" y="1600200"/>
            <a:ext cx="731520" cy="182880"/>
          </a:xfrm>
          <a:prstGeom prst="rect">
            <a:avLst/>
          </a:prstGeom>
          <a:solidFill>
            <a:srgbClr val="FEEB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3401568" y="160020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6B2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DD6B20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3401568" y="1847088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Pre-production mirror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1 superadmin credential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071616" y="1097280"/>
            <a:ext cx="260604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6071616" y="1097280"/>
            <a:ext cx="54864" cy="123444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6208776" y="1170432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UAT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208776" y="1371600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cisuat03.racami.com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6208776" y="1600200"/>
            <a:ext cx="731520" cy="182880"/>
          </a:xfrm>
          <a:prstGeom prst="rect">
            <a:avLst/>
          </a:prstGeom>
          <a:solidFill>
            <a:srgbClr val="FEEB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6208776" y="160020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6B2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DD6B20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6208776" y="1847088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Client-facing testing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1 superadmin credential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457200" y="2468880"/>
            <a:ext cx="260604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457200" y="2468880"/>
            <a:ext cx="54864" cy="123444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594360" y="2542032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QA ENVIRONMENTS (5 nodes)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594360" y="2743200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cisqa01–05.racami.com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94360" y="297180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Debug modes, unpatched code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7 credentials (incl. client paths)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Client names exposed in URLs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3264408" y="2468880"/>
            <a:ext cx="2606040" cy="12344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5303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3264408" y="2468880"/>
            <a:ext cx="54864" cy="12344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3401568" y="2542032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rPr>
              <a:t>GIT REPOSITORY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3401568" y="2743200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git.racami.com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3401568" y="2971800"/>
            <a:ext cx="594360" cy="182880"/>
          </a:xfrm>
          <a:prstGeom prst="rect">
            <a:avLst/>
          </a:prstGeom>
          <a:solidFill>
            <a:srgbClr val="FED7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3401568" y="297180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rPr>
              <a:t>TIER-0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3401568" y="3218688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Self-hosted GitLab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Source code access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Supply-chain attack vector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071616" y="2468880"/>
            <a:ext cx="2606040" cy="12344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5303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6071616" y="2468880"/>
            <a:ext cx="54864" cy="12344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6208776" y="2542032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rPr>
              <a:t>JIRA INSTANCE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208776" y="2743200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work.racami.com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208776" y="2971800"/>
            <a:ext cx="594360" cy="182880"/>
          </a:xfrm>
          <a:prstGeom prst="rect">
            <a:avLst/>
          </a:prstGeom>
          <a:solidFill>
            <a:srgbClr val="FED7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6208776" y="297180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rPr>
              <a:t>TIER-0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208776" y="3218688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Atlassian Jira (Dashboard.jspa)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HellCat's primary target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Project &amp; vulnerability 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40080" y="3913632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KEY SECURITY FINDINGS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40080" y="416052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58368" y="4169664"/>
            <a:ext cx="137160" cy="1371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658368" y="4169664"/>
            <a:ext cx="1371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868680" y="4160520"/>
            <a:ext cx="7498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QA/STG/UAT publicly internet-resolvable — should be VPN-only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640080" y="4325112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58368" y="4334256"/>
            <a:ext cx="137160" cy="1371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658368" y="4334256"/>
            <a:ext cx="1371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868680" y="4325112"/>
            <a:ext cx="7498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Client names leaked via URL paths (chen%20co, pay+) — social engineering risk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40080" y="448970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58368" y="4498848"/>
            <a:ext cx="137160" cy="1371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658368" y="4498848"/>
            <a:ext cx="1371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868680" y="4489704"/>
            <a:ext cx="7498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Multi-tenant architecture with shared superadmin credentials across environments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40080" y="4654296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58368" y="4663440"/>
            <a:ext cx="137160" cy="1371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658368" y="4663440"/>
            <a:ext cx="1371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868680" y="4654296"/>
            <a:ext cx="7498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Java/.jspa stack inferred — LDAP/AD authentication likely targeted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TEAM DELTA  |  Racami URL Analysis  |  2026-CAX-500  | 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MITRE ATT&amp;CK Attack Path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Mapped techniques from the Racami infostealer compromise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274320" y="1188720"/>
            <a:ext cx="1371600" cy="1463040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274320" y="12801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INITIAL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p9"/>
          <p:cNvCxnSpPr/>
          <p:nvPr/>
        </p:nvCxnSpPr>
        <p:spPr>
          <a:xfrm>
            <a:off x="411480" y="1783080"/>
            <a:ext cx="109728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9"/>
          <p:cNvSpPr/>
          <p:nvPr/>
        </p:nvSpPr>
        <p:spPr>
          <a:xfrm>
            <a:off x="320040" y="182880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T1566 Phishing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T1204 User Exec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1828800" y="1188720"/>
            <a:ext cx="1371600" cy="1463040"/>
          </a:xfrm>
          <a:prstGeom prst="rect">
            <a:avLst/>
          </a:prstGeom>
          <a:solidFill>
            <a:srgbClr val="0277BD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1828800" y="12801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9"/>
          <p:cNvCxnSpPr/>
          <p:nvPr/>
        </p:nvCxnSpPr>
        <p:spPr>
          <a:xfrm>
            <a:off x="1965960" y="1783080"/>
            <a:ext cx="109728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9"/>
          <p:cNvSpPr/>
          <p:nvPr/>
        </p:nvSpPr>
        <p:spPr>
          <a:xfrm>
            <a:off x="1874520" y="182880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T1204.002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Malicious File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3383280" y="1188720"/>
            <a:ext cx="1371600" cy="1463040"/>
          </a:xfrm>
          <a:prstGeom prst="rect">
            <a:avLst/>
          </a:prstGeom>
          <a:solidFill>
            <a:srgbClr val="00838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3383280" y="12801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9"/>
          <p:cNvCxnSpPr/>
          <p:nvPr/>
        </p:nvCxnSpPr>
        <p:spPr>
          <a:xfrm>
            <a:off x="3520440" y="1783080"/>
            <a:ext cx="109728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9"/>
          <p:cNvSpPr/>
          <p:nvPr/>
        </p:nvSpPr>
        <p:spPr>
          <a:xfrm>
            <a:off x="3429000" y="182880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T1555.003 Browser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T1539 Cookies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937760" y="1188720"/>
            <a:ext cx="1371600" cy="1463040"/>
          </a:xfrm>
          <a:prstGeom prst="rect">
            <a:avLst/>
          </a:prstGeom>
          <a:solidFill>
            <a:srgbClr val="00695C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4937760" y="12801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DISCOVERY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9"/>
          <p:cNvCxnSpPr/>
          <p:nvPr/>
        </p:nvCxnSpPr>
        <p:spPr>
          <a:xfrm>
            <a:off x="5074920" y="1783080"/>
            <a:ext cx="109728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9"/>
          <p:cNvSpPr/>
          <p:nvPr/>
        </p:nvSpPr>
        <p:spPr>
          <a:xfrm>
            <a:off x="4983480" y="182880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T1082 Sys Info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T1518 SW Discovery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6492240" y="1188720"/>
            <a:ext cx="1371600" cy="146304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6492240" y="12801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DEFENSE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9"/>
          <p:cNvCxnSpPr/>
          <p:nvPr/>
        </p:nvCxnSpPr>
        <p:spPr>
          <a:xfrm>
            <a:off x="6629400" y="1783080"/>
            <a:ext cx="109728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9"/>
          <p:cNvSpPr/>
          <p:nvPr/>
        </p:nvSpPr>
        <p:spPr>
          <a:xfrm>
            <a:off x="6537960" y="182880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T1036 Masquerade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T1562 Impair Def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274320" y="3108960"/>
            <a:ext cx="1371600" cy="1463040"/>
          </a:xfrm>
          <a:prstGeom prst="rect">
            <a:avLst/>
          </a:prstGeom>
          <a:solidFill>
            <a:srgbClr val="E65100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274320" y="320040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EXFILTRATION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9"/>
          <p:cNvCxnSpPr/>
          <p:nvPr/>
        </p:nvCxnSpPr>
        <p:spPr>
          <a:xfrm>
            <a:off x="411480" y="3703320"/>
            <a:ext cx="109728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9"/>
          <p:cNvSpPr/>
          <p:nvPr/>
        </p:nvSpPr>
        <p:spPr>
          <a:xfrm>
            <a:off x="320040" y="374904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T1041 Over C2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1828800" y="3108960"/>
            <a:ext cx="1371600" cy="1463040"/>
          </a:xfrm>
          <a:prstGeom prst="rect">
            <a:avLst/>
          </a:prstGeom>
          <a:solidFill>
            <a:srgbClr val="B71C1C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1828800" y="320040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ACCOUNTS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9"/>
          <p:cNvCxnSpPr/>
          <p:nvPr/>
        </p:nvCxnSpPr>
        <p:spPr>
          <a:xfrm>
            <a:off x="1965960" y="3703320"/>
            <a:ext cx="109728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9"/>
          <p:cNvSpPr/>
          <p:nvPr/>
        </p:nvSpPr>
        <p:spPr>
          <a:xfrm>
            <a:off x="1874520" y="374904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T1078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29-month access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3383280" y="3108960"/>
            <a:ext cx="1371600" cy="1463040"/>
          </a:xfrm>
          <a:prstGeom prst="rect">
            <a:avLst/>
          </a:prstGeom>
          <a:solidFill>
            <a:srgbClr val="4A148C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3383280" y="320040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9"/>
          <p:cNvCxnSpPr/>
          <p:nvPr/>
        </p:nvCxnSpPr>
        <p:spPr>
          <a:xfrm>
            <a:off x="3520440" y="3703320"/>
            <a:ext cx="109728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9"/>
          <p:cNvSpPr/>
          <p:nvPr/>
        </p:nvSpPr>
        <p:spPr>
          <a:xfrm>
            <a:off x="3429000" y="374904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HellCat Ransomware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Exfil + Extortion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9"/>
          <p:cNvCxnSpPr/>
          <p:nvPr/>
        </p:nvCxnSpPr>
        <p:spPr>
          <a:xfrm>
            <a:off x="1645920" y="1920240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9"/>
          <p:cNvSpPr/>
          <p:nvPr/>
        </p:nvSpPr>
        <p:spPr>
          <a:xfrm>
            <a:off x="1691640" y="17830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9"/>
          <p:cNvCxnSpPr/>
          <p:nvPr/>
        </p:nvCxnSpPr>
        <p:spPr>
          <a:xfrm>
            <a:off x="3200400" y="1920240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9"/>
          <p:cNvSpPr/>
          <p:nvPr/>
        </p:nvSpPr>
        <p:spPr>
          <a:xfrm>
            <a:off x="3246120" y="17830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9"/>
          <p:cNvCxnSpPr/>
          <p:nvPr/>
        </p:nvCxnSpPr>
        <p:spPr>
          <a:xfrm>
            <a:off x="4754880" y="1920240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9"/>
          <p:cNvSpPr/>
          <p:nvPr/>
        </p:nvSpPr>
        <p:spPr>
          <a:xfrm>
            <a:off x="4800600" y="17830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9"/>
          <p:cNvCxnSpPr/>
          <p:nvPr/>
        </p:nvCxnSpPr>
        <p:spPr>
          <a:xfrm>
            <a:off x="6309360" y="1920240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9"/>
          <p:cNvSpPr/>
          <p:nvPr/>
        </p:nvSpPr>
        <p:spPr>
          <a:xfrm>
            <a:off x="6355080" y="17830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" name="Google Shape;234;p9"/>
          <p:cNvCxnSpPr/>
          <p:nvPr/>
        </p:nvCxnSpPr>
        <p:spPr>
          <a:xfrm>
            <a:off x="7178040" y="2651760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9"/>
          <p:cNvCxnSpPr/>
          <p:nvPr/>
        </p:nvCxnSpPr>
        <p:spPr>
          <a:xfrm>
            <a:off x="960120" y="2926080"/>
            <a:ext cx="6217920" cy="18288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9"/>
          <p:cNvSpPr/>
          <p:nvPr/>
        </p:nvSpPr>
        <p:spPr>
          <a:xfrm>
            <a:off x="822960" y="278892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9"/>
          <p:cNvCxnSpPr/>
          <p:nvPr/>
        </p:nvCxnSpPr>
        <p:spPr>
          <a:xfrm>
            <a:off x="1645920" y="3840480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p9"/>
          <p:cNvSpPr/>
          <p:nvPr/>
        </p:nvSpPr>
        <p:spPr>
          <a:xfrm>
            <a:off x="1691640" y="37033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9"/>
          <p:cNvCxnSpPr/>
          <p:nvPr/>
        </p:nvCxnSpPr>
        <p:spPr>
          <a:xfrm>
            <a:off x="3200400" y="3840480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9"/>
          <p:cNvSpPr/>
          <p:nvPr/>
        </p:nvSpPr>
        <p:spPr>
          <a:xfrm>
            <a:off x="3246120" y="37033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5029200" y="3200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Evidence: Confirmed     High Confidence     Medium/Inferred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572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The HellCat Outcome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731520" y="1188720"/>
            <a:ext cx="7772400" cy="10972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914400" y="1234440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71C1C"/>
                </a:solidFill>
                <a:latin typeface="Arial"/>
                <a:ea typeface="Arial"/>
                <a:cs typeface="Arial"/>
                <a:sym typeface="Arial"/>
              </a:rPr>
              <a:t>April 5, 2025 — HellCat ransomware group breaches Racami via Jira credentials stolen in November 2022.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914400" y="1737360"/>
            <a:ext cx="7406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Credentials purchased from dark web log marketplaces. Never rotated. Never protected by MFA.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2" name="Google Shape;252;p10"/>
          <p:cNvGraphicFramePr/>
          <p:nvPr/>
        </p:nvGraphicFramePr>
        <p:xfrm>
          <a:off x="731520" y="2560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{16290F42-D52B-44BB-82AB-EEC54994FEEF}</a:tableStyleId>
              </a:tblPr>
              <a:tblGrid>
                <a:gridCol w="2011675"/>
                <a:gridCol w="57607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Attack Vector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Atlassian Jira credentials from infostealer logs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Claimed Data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files, financial records, employee communications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Signature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"Jiraware &lt;&lt;3!!" posted on HellCat leak site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Other Victims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Jaguar Land Rover, Schneider Electric, Orange, Telefonica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Hudson Rock, SC Media, KELA Cyber, BleepingComputer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253" name="Google Shape;253;p1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TEAM DELTA  |  CONFIDENTIAL  |  2026-CAX-500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PRIMARY EVIDENCE: HUDSON ROCK CAVALIER STEALER LOG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RedLine Infostealer Log  —  Date Compromised: November 5, 2022  —  13 Corporate Credentials Recovered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457200" y="1005840"/>
            <a:ext cx="3931920" cy="205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457200" y="1005840"/>
            <a:ext cx="3931920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566928" y="1024128"/>
            <a:ext cx="3712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INFECTED MACHINE PROFILE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530352" y="1353312"/>
            <a:ext cx="3785616" cy="2194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594360" y="1353312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Operating System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2029968" y="135331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Windows 10 Enterprise x64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530352" y="1591056"/>
            <a:ext cx="3785616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594360" y="1591056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Anti-Virus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2029968" y="1591056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Windows Defender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530352" y="1828800"/>
            <a:ext cx="3785616" cy="2194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594360" y="182880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Stealer Family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2029968" y="1828800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RedLine Stealer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530352" y="2066544"/>
            <a:ext cx="3785616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594360" y="2066544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Malware Path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2029968" y="2066544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C:\Users\richa\AppData\Local\Temp\100000…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530352" y="2304288"/>
            <a:ext cx="3785616" cy="2194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594360" y="2304288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Date Compromised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2029968" y="2304288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2022-11-05 23:13:29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530352" y="2542032"/>
            <a:ext cx="3785616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594360" y="2542032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Latest Detection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2029968" y="254203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2022-11-12 22:16:59 (14 detections)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530352" y="2779776"/>
            <a:ext cx="3785616" cy="2194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594360" y="2779776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Applications Found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2029968" y="2779776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Git client installed on endpoint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57200" y="3182112"/>
            <a:ext cx="3931920" cy="91440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ECC9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566928" y="3227832"/>
            <a:ext cx="37124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6B2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D6B20"/>
                </a:solidFill>
                <a:latin typeface="Arial"/>
                <a:ea typeface="Arial"/>
                <a:cs typeface="Arial"/>
                <a:sym typeface="Arial"/>
              </a:rPr>
              <a:t>KEY INDICATORS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566928" y="3438144"/>
            <a:ext cx="371246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⚠  Employee password reuse identified across multiple systems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566928" y="3593592"/>
            <a:ext cx="371246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⚠  Enterprise endpoint (Win10 Ent) — not a personal device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566928" y="3749040"/>
            <a:ext cx="371246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⚠  Git client present — developer/engineer with code access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566928" y="3904488"/>
            <a:ext cx="371246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⚠  29-month credential dwell time (Nov 2022 → Apr 2025 breach)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617720" y="1005840"/>
            <a:ext cx="4160520" cy="3090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4617720" y="1005840"/>
            <a:ext cx="4160520" cy="292608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4727448" y="1024128"/>
            <a:ext cx="39410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 CORPORATE CREDENTIALS EXPOSED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4690872" y="1335024"/>
            <a:ext cx="4014216" cy="2011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4727448" y="133502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Target URL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6766560" y="13350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7818120" y="13350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4690872" y="1554480"/>
            <a:ext cx="4014216" cy="19202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4727448" y="1554480"/>
            <a:ext cx="20116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cisprod01 /CIS/login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6766560" y="1554480"/>
            <a:ext cx="10058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superadmin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7863840" y="1554480"/>
            <a:ext cx="685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rPr>
              <a:t>CRITICAL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4690872" y="1751076"/>
            <a:ext cx="4014216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4727448" y="1751076"/>
            <a:ext cx="20116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cisstg01 /CIS/login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6766560" y="1751076"/>
            <a:ext cx="10058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superadmin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7863840" y="1751076"/>
            <a:ext cx="685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rPr>
              <a:t>CRITICAL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690872" y="1947672"/>
            <a:ext cx="4014216" cy="19202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4727448" y="1947672"/>
            <a:ext cx="20116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work.racami.com /Jira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6766560" y="1947672"/>
            <a:ext cx="10058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[redacted]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7863840" y="1947672"/>
            <a:ext cx="685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rPr>
              <a:t>CRITICAL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4690872" y="2144268"/>
            <a:ext cx="4014216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4727448" y="2144268"/>
            <a:ext cx="20116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git.racami.com /sign_in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6766560" y="2144268"/>
            <a:ext cx="10058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[redacted]@racami.com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7863840" y="2144268"/>
            <a:ext cx="685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rPr>
              <a:t>CRITICAL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4690872" y="2340864"/>
            <a:ext cx="4014216" cy="19202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4727448" y="2340864"/>
            <a:ext cx="20116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cisuat03 /CIS/login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6766560" y="2340864"/>
            <a:ext cx="10058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superadmin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7863840" y="2340864"/>
            <a:ext cx="685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6B2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DD6B20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4690872" y="2537460"/>
            <a:ext cx="4014216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4727448" y="2537460"/>
            <a:ext cx="20116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cisqa01 /CIS/login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6766560" y="2537460"/>
            <a:ext cx="10058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superadmin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7863840" y="2537460"/>
            <a:ext cx="685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6B2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DD6B20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4690872" y="2734056"/>
            <a:ext cx="4014216" cy="19202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4727448" y="2734056"/>
            <a:ext cx="20116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cisqa02 /CIS/login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6766560" y="2734056"/>
            <a:ext cx="10058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superadmin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7863840" y="2734056"/>
            <a:ext cx="685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6B2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DD6B20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4690872" y="2930652"/>
            <a:ext cx="4014216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4727448" y="2930652"/>
            <a:ext cx="20116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cisqa03 /CIS/login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6766560" y="2930652"/>
            <a:ext cx="10058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superadmin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7863840" y="2930652"/>
            <a:ext cx="685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6B2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DD6B20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690872" y="3127248"/>
            <a:ext cx="4014216" cy="19202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4727448" y="3127248"/>
            <a:ext cx="20116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cisqa04 /CIS/login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6766560" y="3127248"/>
            <a:ext cx="10058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superadmin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7863840" y="3127248"/>
            <a:ext cx="685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6B2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DD6B20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4690872" y="3323844"/>
            <a:ext cx="4014216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4727448" y="3323844"/>
            <a:ext cx="20116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cisqa04 /CIS/app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6766560" y="3323844"/>
            <a:ext cx="10058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[redacted]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7863840" y="3323844"/>
            <a:ext cx="685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6B2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DD6B20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4690872" y="3520440"/>
            <a:ext cx="4014216" cy="19202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4727448" y="3520440"/>
            <a:ext cx="20116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cisqa04 /chen%20co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6766560" y="3520440"/>
            <a:ext cx="10058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[redacted]_superadmin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7863840" y="3520440"/>
            <a:ext cx="685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6B2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DD6B20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4690872" y="3717036"/>
            <a:ext cx="4014216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4727448" y="3717036"/>
            <a:ext cx="20116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cisqa02 /chen%20co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6766560" y="3717036"/>
            <a:ext cx="10058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[redacted]_superadmin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7863840" y="3717036"/>
            <a:ext cx="685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6B2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DD6B20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4690872" y="3913632"/>
            <a:ext cx="4014216" cy="19202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4727448" y="3913632"/>
            <a:ext cx="20116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cisqa05 /CIS/login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6766560" y="3913632"/>
            <a:ext cx="10058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superadmin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7863840" y="3913632"/>
            <a:ext cx="685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6B2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DD6B20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457200" y="4206240"/>
            <a:ext cx="150876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457200" y="422452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457200" y="455371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Credentials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Exposed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2148840" y="4206240"/>
            <a:ext cx="150876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2148840" y="422452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6B2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DD6B2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2148840" y="455371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Superadmin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Accounts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3840480" y="4206240"/>
            <a:ext cx="150876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1"/>
          <p:cNvSpPr/>
          <p:nvPr/>
        </p:nvSpPr>
        <p:spPr>
          <a:xfrm>
            <a:off x="3840480" y="422452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3840480" y="455371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Month Dwell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5532120" y="4206240"/>
            <a:ext cx="150876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5532120" y="422452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5532120" y="455371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Detection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Events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7223760" y="4206240"/>
            <a:ext cx="150876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7223760" y="422452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55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855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7223760" y="455371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Unique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Endpoints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TEAM DELTA  |  Cavalier Evidence  |  2026-CAX-500  | 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Root Cause Analysis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731520" y="1097280"/>
            <a:ext cx="457200" cy="4572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731520" y="1097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1371600" y="10972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No credential rotation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Stolen passwords valid for 29+ months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1371600" y="16916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No MFA on any system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4754880" y="169164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Password = full access, no secondary 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1371600" y="2286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Systemic password reuse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4754880" y="228600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8 of 13 credentials used identical superadmin account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731520" y="2880360"/>
            <a:ext cx="457200" cy="4572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731520" y="2880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1371600" y="28803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No endpoint detection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4754880" y="28803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Windows Defender only — no EDR, no behavioral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1371600" y="34747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No dark web monitoring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4754880" y="34747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Credentials circulated for 2+ years undetected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1371600" y="40690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Browser credential storage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4754880" y="406908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Corporate passwords in plaintext browser stores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TEAM DELTA  |  CONFIDENTIAL  |  2026-CAX-500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3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Risk &amp; Business Impact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731520" y="1097280"/>
            <a:ext cx="1828800" cy="118872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731520" y="11430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B71C1C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731520" y="178308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CRITICAL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Findings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2788920" y="1097280"/>
            <a:ext cx="1828800" cy="118872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2788920" y="11430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E65100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2788920" y="178308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Findings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4846320" y="1097280"/>
            <a:ext cx="1828800" cy="118872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4846320" y="11430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148C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4A148C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4846320" y="178308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REALIZED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Impacts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6903720" y="1097280"/>
            <a:ext cx="1828800" cy="118872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6903720" y="11430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29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6903720" y="178308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MONTHS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Exposure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731520" y="25603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71C1C"/>
                </a:solidFill>
                <a:latin typeface="Arial"/>
                <a:ea typeface="Arial"/>
                <a:cs typeface="Arial"/>
                <a:sym typeface="Arial"/>
              </a:rPr>
              <a:t>Confirmed Impacts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731520" y="2926080"/>
            <a:ext cx="3840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Ransomware extortion (HellCat)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13 credential pairs exfiltrated to dark web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Source code repo access (Alchem-e IP)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4754880" y="25603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65100"/>
                </a:solidFill>
                <a:latin typeface="Arial"/>
                <a:ea typeface="Arial"/>
                <a:cs typeface="Arial"/>
                <a:sym typeface="Arial"/>
              </a:rPr>
              <a:t>Probable Impacts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4754880" y="2926080"/>
            <a:ext cx="3840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Customer PII/PHI exposure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Supply chain backdoor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Regulatory liability (GDPR/CCPA/HIPAA)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TEAM DELTA  |  CONFIDENTIAL  |  2026-CAX-500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4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Recommended Actions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1" name="Google Shape;431;p14"/>
          <p:cNvGraphicFramePr/>
          <p:nvPr/>
        </p:nvGraphicFramePr>
        <p:xfrm>
          <a:off x="73152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{16290F42-D52B-44BB-82AB-EEC54994FEEF}</a:tableStyleId>
              </a:tblPr>
              <a:tblGrid>
                <a:gridCol w="548650"/>
                <a:gridCol w="5669275"/>
                <a:gridCol w="109727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Action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Timeline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Force rotate all 13 credentials + service accounts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Immediate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Invalidate all sessions, OAuth tokens, SSO assertions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Immediate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Restrict Git/staging/QA to VPN-only; isolate workstation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 hours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Deploy mandatory MFA (FIDO2 for admin accounts)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days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Deploy EDR to all developer workstations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 days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Remove AnyDesk; block %TEMP% execution via AppLocker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 days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P3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Eliminate shared superadmin; create named accounts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weeks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P3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 Git commit audit from Nov 2022 forward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weeks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P3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 segmentation: Dev / Staging / Production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 days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90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432" name="Google Shape;432;p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TEAM DELTA  |  CONFIDENTIAL  |  2026-CAX-500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5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Key Takeaway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731520" y="128016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Infostealer compromises are not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low-severity events.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731520" y="256032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A single credential theft — taking less than 60 seconds — provided the attack surface that enabled a ransomware breach twenty-nine months later.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2" name="Google Shape;442;p15"/>
          <p:cNvCxnSpPr/>
          <p:nvPr/>
        </p:nvCxnSpPr>
        <p:spPr>
          <a:xfrm>
            <a:off x="731520" y="347472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15"/>
          <p:cNvSpPr/>
          <p:nvPr/>
        </p:nvSpPr>
        <p:spPr>
          <a:xfrm>
            <a:off x="731520" y="36576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The absence of basic controls — credential rotation, MFA, endpoint detection, dark web monitoring — transformed a containable incident into a confirmed breach with data exfiltration and extortion.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6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References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[1] Hudson Rock / Cavalier Platform. Stealer Log GH[984304A1DB022880654C9054CBD33F2D] — racami.com. Nov 5, 2022. RedLine Stealer.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731520" y="138988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[2] Gal, A. (2025, Apr 5). "HELLCAT Ransomware Group Strikes Again." Infostealers.com / Hudson Rock.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731520" y="1773936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[3] SC Media. (2025, Apr 9). "Pilfered Jira credentials leveraged in HellCat ransomware attacks." SC World.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731520" y="2157984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[4] KELA Cyber. (2025, Mar 27). "Hellcat Hacking Group Unmasked." kelacyber.com.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731520" y="2542032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[5] MITRE ATT&amp;CK Enterprise Matrix v14. attack.mitre.org.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731520" y="29260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[6] NIST SP 800-61 Rev. 2 — Computer Security Incident Handling Guide. [Superseded by Rev. 3, Apr 2025]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731520" y="331012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[7] BleepingComputer. (2025, Mar 14). "HellCat hackers go on a worldwide Jira hacking spree."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731520" y="3694176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[8] Ransomware.live. HellCat Group Profile — Racami entry.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731520" y="4078224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[9] Sekoia.io. (2024). "Infostealer Ecosystem Analysis." Sekoia TDR.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TEAM DELTA  |  CONFIDENTIAL  |  2026-CAX-500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